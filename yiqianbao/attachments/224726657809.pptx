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71" r:id="rId5"/>
    <p:sldId id="272" r:id="rId7"/>
    <p:sldId id="291" r:id="rId8"/>
    <p:sldId id="282" r:id="rId9"/>
    <p:sldId id="265" r:id="rId10"/>
    <p:sldId id="269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623" autoAdjust="0"/>
  </p:normalViewPr>
  <p:slideViewPr>
    <p:cSldViewPr>
      <p:cViewPr varScale="1">
        <p:scale>
          <a:sx n="75" d="100"/>
          <a:sy n="75" d="100"/>
        </p:scale>
        <p:origin x="1474" y="62"/>
      </p:cViewPr>
      <p:guideLst>
        <p:guide orient="horz" pos="2150"/>
        <p:guide pos="29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9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6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6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2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9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30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3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35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36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3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41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42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43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44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45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46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47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10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49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5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52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53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19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620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2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2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25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2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2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14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1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 descr="C:/Users/PC-2/Desktop/图片/2_2312498.jpg2_231249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75000"/>
          </a:blip>
          <a:srcRect l="3172" t="14385" b="14385"/>
          <a:stretch>
            <a:fillRect/>
          </a:stretch>
        </p:blipFill>
        <p:spPr>
          <a:xfrm>
            <a:off x="0" y="635"/>
            <a:ext cx="4290060" cy="6870065"/>
          </a:xfrm>
          <a:prstGeom prst="rect">
            <a:avLst/>
          </a:prstGeom>
        </p:spPr>
      </p:pic>
      <p:sp>
        <p:nvSpPr>
          <p:cNvPr id="1048586" name="TextBox 3"/>
          <p:cNvSpPr txBox="1"/>
          <p:nvPr/>
        </p:nvSpPr>
        <p:spPr>
          <a:xfrm>
            <a:off x="4161790" y="1628775"/>
            <a:ext cx="4982210" cy="1720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b="1" dirty="0">
                <a:latin typeface="微软雅黑" panose="020B0503020204020204" charset="-122"/>
                <a:ea typeface="微软雅黑" panose="020B0503020204020204" charset="-122"/>
              </a:rPr>
              <a:t>荣畅公交</a:t>
            </a:r>
            <a:endParaRPr lang="zh-CN" altLang="en-US" sz="4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4400" b="1" dirty="0">
                <a:latin typeface="微软雅黑" panose="020B0503020204020204" charset="-122"/>
                <a:ea typeface="微软雅黑" panose="020B0503020204020204" charset="-122"/>
              </a:rPr>
              <a:t>车辆优化解决方案</a:t>
            </a:r>
            <a:endParaRPr lang="zh-CN" altLang="en-US" sz="4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587" name="TextBox 4"/>
          <p:cNvSpPr txBox="1"/>
          <p:nvPr/>
        </p:nvSpPr>
        <p:spPr>
          <a:xfrm>
            <a:off x="4572000" y="4653280"/>
            <a:ext cx="45192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宁家（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北京）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汽车服务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有限公司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27305"/>
            <a:ext cx="3420110" cy="68853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88085" y="2437765"/>
            <a:ext cx="1013460" cy="1955800"/>
          </a:xfrm>
          <a:prstGeom prst="rect">
            <a:avLst/>
          </a:prstGeom>
          <a:noFill/>
        </p:spPr>
        <p:txBody>
          <a:bodyPr vert="eaVert" wrap="square" rtlCol="0" anchor="ctr" anchorCtr="0">
            <a:spAutoFit/>
          </a:bodyPr>
          <a:lstStyle/>
          <a:p>
            <a:r>
              <a:rPr lang="zh-CN" altLang="en-US" sz="5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5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5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altLang="en-US" sz="5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924300" y="1412875"/>
            <a:ext cx="4247515" cy="647700"/>
            <a:chOff x="6180" y="2225"/>
            <a:chExt cx="6689" cy="1020"/>
          </a:xfrm>
        </p:grpSpPr>
        <p:sp>
          <p:nvSpPr>
            <p:cNvPr id="4" name="椭圆 3"/>
            <p:cNvSpPr/>
            <p:nvPr/>
          </p:nvSpPr>
          <p:spPr>
            <a:xfrm>
              <a:off x="6180" y="2225"/>
              <a:ext cx="1020" cy="102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8107" y="2338"/>
              <a:ext cx="4762" cy="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车辆信息</a:t>
              </a:r>
              <a:endPara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924300" y="2456815"/>
            <a:ext cx="4247515" cy="647700"/>
            <a:chOff x="6180" y="2225"/>
            <a:chExt cx="6689" cy="1020"/>
          </a:xfrm>
          <a:solidFill>
            <a:schemeClr val="accent1">
              <a:lumMod val="75000"/>
            </a:schemeClr>
          </a:solidFill>
        </p:grpSpPr>
        <p:sp>
          <p:nvSpPr>
            <p:cNvPr id="9" name="椭圆 8"/>
            <p:cNvSpPr/>
            <p:nvPr/>
          </p:nvSpPr>
          <p:spPr>
            <a:xfrm>
              <a:off x="6180" y="2225"/>
              <a:ext cx="1020" cy="102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8107" y="2338"/>
              <a:ext cx="4762" cy="794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推荐方案</a:t>
              </a:r>
              <a:endPara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924300" y="4364990"/>
            <a:ext cx="4247515" cy="647700"/>
            <a:chOff x="6180" y="2225"/>
            <a:chExt cx="6689" cy="1020"/>
          </a:xfrm>
          <a:solidFill>
            <a:schemeClr val="accent1">
              <a:lumMod val="75000"/>
            </a:schemeClr>
          </a:solidFill>
        </p:grpSpPr>
        <p:sp>
          <p:nvSpPr>
            <p:cNvPr id="12" name="椭圆 11"/>
            <p:cNvSpPr/>
            <p:nvPr/>
          </p:nvSpPr>
          <p:spPr>
            <a:xfrm>
              <a:off x="6180" y="2225"/>
              <a:ext cx="1020" cy="102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8107" y="2338"/>
              <a:ext cx="4762" cy="794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整体报价</a:t>
              </a:r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924300" y="3411220"/>
            <a:ext cx="4247515" cy="647700"/>
            <a:chOff x="6180" y="2225"/>
            <a:chExt cx="6689" cy="1020"/>
          </a:xfrm>
          <a:solidFill>
            <a:schemeClr val="accent1">
              <a:lumMod val="75000"/>
            </a:schemeClr>
          </a:solidFill>
        </p:grpSpPr>
        <p:sp>
          <p:nvSpPr>
            <p:cNvPr id="15" name="椭圆 14"/>
            <p:cNvSpPr/>
            <p:nvPr/>
          </p:nvSpPr>
          <p:spPr>
            <a:xfrm>
              <a:off x="6180" y="2225"/>
              <a:ext cx="1020" cy="102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8107" y="2338"/>
              <a:ext cx="4762" cy="794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换电优势</a:t>
              </a:r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7360" y="116840"/>
            <a:ext cx="2399030" cy="55816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1.0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车辆信息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7995" y="980440"/>
          <a:ext cx="7931224" cy="1446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/>
                <a:gridCol w="1152128"/>
                <a:gridCol w="1008112"/>
                <a:gridCol w="720080"/>
                <a:gridCol w="1080120"/>
                <a:gridCol w="576064"/>
                <a:gridCol w="864096"/>
                <a:gridCol w="720080"/>
              </a:tblGrid>
              <a:tr h="7962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车型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生产时间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原车电量（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KWH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供应商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原车电芯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电箱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电压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台数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LCK6809EVG3A7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2018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年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12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136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CATL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271AH</a:t>
                      </a:r>
                      <a:endParaRPr lang="en-US" altLang="zh-CN" sz="14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4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502.32</a:t>
                      </a:r>
                      <a:endParaRPr lang="en-US" altLang="zh-CN" sz="14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14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924810"/>
            <a:ext cx="3509645" cy="3536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780" y="2924810"/>
            <a:ext cx="3936365" cy="3536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extBox 3"/>
          <p:cNvSpPr txBox="1"/>
          <p:nvPr/>
        </p:nvSpPr>
        <p:spPr>
          <a:xfrm>
            <a:off x="539750" y="764540"/>
            <a:ext cx="347535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</a:rPr>
              <a:t>主要配置信息如下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(CATL)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194306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88340" y="1323340"/>
          <a:ext cx="7835265" cy="15673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50340"/>
                <a:gridCol w="1367155"/>
                <a:gridCol w="844550"/>
                <a:gridCol w="1266825"/>
                <a:gridCol w="1353185"/>
                <a:gridCol w="1553210"/>
              </a:tblGrid>
              <a:tr h="5714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原车电量</a:t>
                      </a:r>
                      <a:endParaRPr lang="zh-CN" sz="1800" b="0" kern="12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kern="12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更换后电量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供应商</a:t>
                      </a:r>
                      <a:endParaRPr lang="zh-CN" sz="1800" b="0" kern="12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电芯</a:t>
                      </a:r>
                      <a:r>
                        <a:rPr lang="en-US" sz="1800" b="0" kern="12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/Ah</a:t>
                      </a:r>
                      <a:endParaRPr lang="en-US" sz="1800" b="0" kern="120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电箱</a:t>
                      </a:r>
                      <a:endParaRPr lang="zh-CN" sz="1800" b="0" kern="12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电压</a:t>
                      </a:r>
                      <a:r>
                        <a:rPr lang="en-US" sz="1800" b="0" kern="1200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/V</a:t>
                      </a:r>
                      <a:endParaRPr lang="en-US" sz="1800" b="0" kern="12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645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136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121.13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CATL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228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5B06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531.3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13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136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145.86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CATL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302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5G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483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83567" y="116840"/>
            <a:ext cx="4896545" cy="6477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2. 0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推荐换电方案（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CATL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方案）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35" y="3069011"/>
            <a:ext cx="3663111" cy="2520280"/>
          </a:xfrm>
          <a:prstGeom prst="rect">
            <a:avLst/>
          </a:prstGeom>
        </p:spPr>
      </p:pic>
      <p:sp>
        <p:nvSpPr>
          <p:cNvPr id="11" name="圆角矩形 16"/>
          <p:cNvSpPr/>
          <p:nvPr/>
        </p:nvSpPr>
        <p:spPr>
          <a:xfrm>
            <a:off x="697230" y="5805170"/>
            <a:ext cx="7818120" cy="747395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dirty="0"/>
              <a:t>注：结合客户里程需求，综合评估原车电压平台，充放电电流等因素推荐以上更换方案。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245" y="3068320"/>
            <a:ext cx="4044315" cy="2440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extBox 3"/>
          <p:cNvSpPr txBox="1"/>
          <p:nvPr/>
        </p:nvSpPr>
        <p:spPr>
          <a:xfrm>
            <a:off x="323215" y="980440"/>
            <a:ext cx="39312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原车电池箱布置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位置（图片仅供参考）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594" name="矩形 1"/>
          <p:cNvSpPr/>
          <p:nvPr/>
        </p:nvSpPr>
        <p:spPr>
          <a:xfrm>
            <a:off x="4643755" y="980440"/>
            <a:ext cx="4347845" cy="4337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更换后电池箱布置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位置（图片仅供参考）</a:t>
            </a:r>
            <a:endParaRPr lang="en-US" altLang="zh-CN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323215" y="116840"/>
            <a:ext cx="3056890" cy="6477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3.0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推荐换电方案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6920" y="3423920"/>
            <a:ext cx="9525" cy="9525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884555" y="1988820"/>
            <a:ext cx="2807970" cy="4320540"/>
            <a:chOff x="8660" y="3022"/>
            <a:chExt cx="4422" cy="6804"/>
          </a:xfrm>
        </p:grpSpPr>
        <p:sp>
          <p:nvSpPr>
            <p:cNvPr id="3" name="圆角矩形 2"/>
            <p:cNvSpPr/>
            <p:nvPr/>
          </p:nvSpPr>
          <p:spPr>
            <a:xfrm>
              <a:off x="8660" y="3022"/>
              <a:ext cx="4422" cy="6804"/>
            </a:xfrm>
            <a:prstGeom prst="roundRect">
              <a:avLst/>
            </a:prstGeom>
            <a:noFill/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74" y="3132"/>
              <a:ext cx="869" cy="927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47" y="4833"/>
              <a:ext cx="723" cy="1245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47" y="6534"/>
              <a:ext cx="723" cy="124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34" y="4841"/>
              <a:ext cx="723" cy="1245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12757" y="6647"/>
              <a:ext cx="227" cy="102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30" y="8266"/>
              <a:ext cx="1365" cy="963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10611" y="8465"/>
              <a:ext cx="1084" cy="5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高压盒</a:t>
              </a:r>
              <a:endParaRPr lang="zh-CN" altLang="en-US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543" y="6875"/>
              <a:ext cx="893" cy="5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C</a:t>
              </a:r>
              <a:r>
                <a:rPr lang="zh-CN" altLang="en-US" sz="120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箱</a:t>
              </a:r>
              <a:endParaRPr lang="zh-CN" altLang="en-US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9581" y="5172"/>
              <a:ext cx="893" cy="5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C</a:t>
              </a:r>
              <a:r>
                <a:rPr lang="zh-CN" altLang="en-US" sz="120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箱</a:t>
              </a:r>
              <a:endParaRPr lang="zh-CN" altLang="en-US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1013" y="5177"/>
              <a:ext cx="893" cy="5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C</a:t>
              </a:r>
              <a:r>
                <a:rPr lang="zh-CN" altLang="en-US" sz="120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箱</a:t>
              </a:r>
              <a:endParaRPr lang="zh-CN" altLang="en-US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1736" y="6875"/>
              <a:ext cx="893" cy="5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门</a:t>
              </a:r>
              <a:endParaRPr lang="zh-CN" altLang="en-US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34" y="8168"/>
              <a:ext cx="723" cy="1245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5396230" y="1988820"/>
            <a:ext cx="2807970" cy="4320540"/>
            <a:chOff x="8561" y="2905"/>
            <a:chExt cx="4422" cy="6804"/>
          </a:xfrm>
        </p:grpSpPr>
        <p:sp>
          <p:nvSpPr>
            <p:cNvPr id="20" name="圆角矩形 19"/>
            <p:cNvSpPr/>
            <p:nvPr/>
          </p:nvSpPr>
          <p:spPr>
            <a:xfrm>
              <a:off x="8561" y="2905"/>
              <a:ext cx="4422" cy="6804"/>
            </a:xfrm>
            <a:prstGeom prst="roundRect">
              <a:avLst/>
            </a:prstGeom>
            <a:noFill/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74" y="3132"/>
              <a:ext cx="869" cy="927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47" y="4833"/>
              <a:ext cx="723" cy="124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47" y="6534"/>
              <a:ext cx="723" cy="1245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63" y="4833"/>
              <a:ext cx="723" cy="1245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12757" y="6647"/>
              <a:ext cx="227" cy="102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41" y="8235"/>
              <a:ext cx="1365" cy="963"/>
            </a:xfrm>
            <a:prstGeom prst="rect">
              <a:avLst/>
            </a:prstGeom>
          </p:spPr>
        </p:pic>
        <p:sp>
          <p:nvSpPr>
            <p:cNvPr id="27" name="矩形 26"/>
            <p:cNvSpPr/>
            <p:nvPr/>
          </p:nvSpPr>
          <p:spPr>
            <a:xfrm>
              <a:off x="10879" y="8433"/>
              <a:ext cx="1084" cy="5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高压盒</a:t>
              </a:r>
              <a:endParaRPr lang="zh-CN" altLang="en-US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9543" y="6875"/>
              <a:ext cx="893" cy="5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C</a:t>
              </a:r>
              <a:r>
                <a:rPr lang="zh-CN" altLang="en-US" sz="120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箱</a:t>
              </a:r>
              <a:endParaRPr lang="zh-CN" altLang="en-US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9581" y="5172"/>
              <a:ext cx="893" cy="5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C</a:t>
              </a:r>
              <a:r>
                <a:rPr lang="zh-CN" altLang="en-US" sz="120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箱</a:t>
              </a:r>
              <a:endParaRPr lang="zh-CN" altLang="en-US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0946" y="5173"/>
              <a:ext cx="893" cy="5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C</a:t>
              </a:r>
              <a:r>
                <a:rPr lang="zh-CN" altLang="en-US" sz="120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箱</a:t>
              </a:r>
              <a:endParaRPr lang="zh-CN" altLang="en-US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11736" y="6875"/>
              <a:ext cx="893" cy="5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门</a:t>
              </a:r>
              <a:endParaRPr lang="zh-CN" altLang="en-US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5229860"/>
            <a:ext cx="459105" cy="790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0" y="5229225"/>
            <a:ext cx="459105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2729230" y="1700530"/>
            <a:ext cx="3685540" cy="373253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23215" y="116840"/>
            <a:ext cx="2304415" cy="6477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3.1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换电优势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419475" y="2404110"/>
            <a:ext cx="2297430" cy="2325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优势</a:t>
            </a:r>
            <a:endParaRPr lang="zh-CN" altLang="en-US" sz="4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2627630" y="1772920"/>
            <a:ext cx="1195070" cy="8229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降低维修成本</a:t>
            </a:r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5219700" y="1793240"/>
            <a:ext cx="1195070" cy="8229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技术全面升级</a:t>
            </a:r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5219700" y="4293235"/>
            <a:ext cx="1195070" cy="8229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提高安全系数</a:t>
            </a:r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3966845" y="1268730"/>
            <a:ext cx="1195070" cy="8229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减轻运营负担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79070" y="1680210"/>
            <a:ext cx="2304415" cy="1008380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单模组</a:t>
            </a:r>
            <a:r>
              <a:rPr lang="en-US" altLang="zh-CN" sz="2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5000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</a:t>
            </a:r>
            <a:r>
              <a:rPr lang="en-US" altLang="zh-CN" sz="28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个模组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9070" y="4221480"/>
            <a:ext cx="2304415" cy="1008380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80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</a:t>
            </a:r>
            <a:r>
              <a:rPr 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</a:t>
            </a:r>
            <a:endParaRPr 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sz="280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</a:t>
            </a:r>
            <a:r>
              <a:rPr 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驾乘体验</a:t>
            </a:r>
            <a:endParaRPr 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652895" y="4221480"/>
            <a:ext cx="2304415" cy="1008380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线路老化、电芯内部钝化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588125" y="1700530"/>
            <a:ext cx="2304415" cy="1008380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小时监控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全新产品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4067810" y="4940935"/>
            <a:ext cx="1195070" cy="8229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符合政策法规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563620" y="5849620"/>
            <a:ext cx="2304415" cy="1008380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以免</a:t>
            </a:r>
            <a:r>
              <a:rPr lang="zh-CN" sz="28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造成</a:t>
            </a:r>
            <a:r>
              <a:rPr 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停运</a:t>
            </a:r>
            <a:endParaRPr 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影响线路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12820" y="188595"/>
            <a:ext cx="2304415" cy="1008380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单台节省充电费用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 sz="2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250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延长续航里程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627630" y="4293235"/>
            <a:ext cx="1195070" cy="8229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提高整体形象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圆角矩形 6"/>
          <p:cNvSpPr/>
          <p:nvPr/>
        </p:nvSpPr>
        <p:spPr bwMode="auto">
          <a:xfrm>
            <a:off x="467387" y="4558496"/>
            <a:ext cx="8375650" cy="216024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>
              <a:buFont typeface="Arial" panose="020B0604020202020204" pitchFamily="34" charset="0"/>
              <a:buNone/>
            </a:pPr>
            <a:r>
              <a:rPr lang="zh-CN" altLang="en-US" sz="1600" dirty="0">
                <a:ln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注：</a:t>
            </a:r>
            <a:endParaRPr lang="zh-CN" altLang="en-US" sz="1600" dirty="0">
              <a:ln>
                <a:noFill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ln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更换内容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</a:t>
            </a:r>
            <a:r>
              <a:rPr lang="zh-CN" altLang="en-US" sz="1600" dirty="0">
                <a:ln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高压盒、高低压线束、加热线束、充电底座；</a:t>
            </a:r>
            <a:endParaRPr lang="zh-CN" altLang="en-US" sz="1600" dirty="0">
              <a:ln>
                <a:noFill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ln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电池费用包括电池（整包）、辅料（含线束）、安装费用；</a:t>
            </a:r>
            <a:endParaRPr lang="zh-CN" altLang="en-US" sz="1600" dirty="0">
              <a:ln>
                <a:noFill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ln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质保周期：</a:t>
            </a:r>
            <a:r>
              <a:rPr lang="en-US" altLang="zh-CN" sz="1600" dirty="0">
                <a:ln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600" dirty="0">
                <a:ln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600" dirty="0">
                <a:ln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/30</a:t>
            </a:r>
            <a:r>
              <a:rPr lang="zh-CN" altLang="en-US" sz="1600" dirty="0">
                <a:ln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万公里，哪个先到以哪个为准；</a:t>
            </a:r>
            <a:endParaRPr lang="zh-CN" altLang="en-US" sz="1600" dirty="0">
              <a:ln>
                <a:noFill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ln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报价有效期</a:t>
            </a:r>
            <a:r>
              <a:rPr lang="en-US" altLang="zh-CN" sz="1600" dirty="0">
                <a:ln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 dirty="0">
                <a:ln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个月；</a:t>
            </a:r>
            <a:endParaRPr lang="en-US" alt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废旧电池可抵消一部分换电费用，具体价格需现场对电池进行检测评估再定；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更换后协助客户做补贴材料提供与申请。</a:t>
            </a:r>
            <a:endParaRPr lang="en-US" alt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sz="1600" dirty="0">
              <a:ln>
                <a:noFill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7387" y="49376"/>
            <a:ext cx="2448429" cy="62068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4.0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整体报价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57200" y="16002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947"/>
                <a:gridCol w="923290"/>
                <a:gridCol w="956387"/>
                <a:gridCol w="1224136"/>
                <a:gridCol w="1080120"/>
                <a:gridCol w="1080120"/>
                <a:gridCol w="1281991"/>
                <a:gridCol w="1032609"/>
              </a:tblGrid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电量（</a:t>
                      </a:r>
                      <a:r>
                        <a:rPr lang="en-US" altLang="zh-CN" dirty="0"/>
                        <a:t>kwh</a:t>
                      </a:r>
                      <a:r>
                        <a:rPr lang="zh-CN" altLang="en-US" dirty="0"/>
                        <a:t>）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供应商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电池单价报价（元</a:t>
                      </a:r>
                      <a:r>
                        <a:rPr lang="en-US" altLang="zh-CN" dirty="0"/>
                        <a:t>/KWH</a:t>
                      </a:r>
                      <a:r>
                        <a:rPr lang="zh-CN" altLang="en-US" dirty="0"/>
                        <a:t>）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单台价格（元）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数量（台）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电机、四合一延保（元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年）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总价（元）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9144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方案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ym typeface="+mn-ea"/>
                        </a:rPr>
                        <a:t>121.13</a:t>
                      </a:r>
                      <a:endParaRPr lang="en-US" altLang="zh-C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CATL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900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109017</a:t>
                      </a:r>
                      <a:endParaRPr lang="en-US" altLang="zh-C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</a:t>
                      </a:r>
                      <a:endParaRPr lang="en-US" altLang="zh-C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有需求可结合厂家制定方案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5450850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14400">
                <a:tc v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145.86</a:t>
                      </a:r>
                      <a:endParaRPr lang="en-US" altLang="zh-C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ym typeface="+mn-ea"/>
                        </a:rPr>
                        <a:t>CATL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dirty="0"/>
                        <a:t>131274</a:t>
                      </a:r>
                      <a:endParaRPr lang="en-US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ym typeface="+mn-ea"/>
                        </a:rPr>
                        <a:t>有需求可结合厂家制定方案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6563700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7780" y="0"/>
            <a:ext cx="9180195" cy="691261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9217025" cy="6912610"/>
          </a:xfrm>
          <a:prstGeom prst="rect">
            <a:avLst/>
          </a:prstGeom>
          <a:solidFill>
            <a:schemeClr val="accent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460" y="1628775"/>
            <a:ext cx="6361430" cy="3568065"/>
          </a:xfrm>
        </p:spPr>
        <p:txBody>
          <a:bodyPr anchor="ctr" anchorCtr="0">
            <a:noAutofit/>
          </a:bodyPr>
          <a:lstStyle/>
          <a:p>
            <a:pPr marL="0" indent="0">
              <a:buNone/>
            </a:pPr>
            <a:r>
              <a:rPr lang="en-US" altLang="zh-CN" sz="4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CONTACT US</a:t>
            </a:r>
            <a:endParaRPr lang="en-US" altLang="zh-CN" sz="4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icid" val="{d6f6de33-1a29-462c-a307-c72ac682aa8d}"/>
</p:tagLst>
</file>

<file path=ppt/tags/tag2.xml><?xml version="1.0" encoding="utf-8"?>
<p:tagLst xmlns:p="http://schemas.openxmlformats.org/presentationml/2006/main">
  <p:tag name="TABLE_ENDDRAG_ORIGIN_RECT" val="616*123"/>
  <p:tag name="TABLE_ENDDRAG_RECT" val="54*104*616*123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</Words>
  <Application>WPS 演示</Application>
  <PresentationFormat>全屏显示(4:3)</PresentationFormat>
  <Paragraphs>221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张博</dc:creator>
  <cp:lastModifiedBy>luxw-</cp:lastModifiedBy>
  <cp:revision>105</cp:revision>
  <dcterms:created xsi:type="dcterms:W3CDTF">2024-08-02T09:56:00Z</dcterms:created>
  <dcterms:modified xsi:type="dcterms:W3CDTF">2026-06-11T07:50:39Z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5A16F0B1985B47E1B39C5CC3CE626299</vt:lpwstr>
  </property>
  <property fmtid="{D5CDD505-2E9C-101B-9397-08002B2CF9AE}" pid="3" name="KSOProductBuildVer">
    <vt:lpwstr>2052-11.8.2.11813</vt:lpwstr>
  </property>
</Properties>
</file>